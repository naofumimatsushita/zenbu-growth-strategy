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ZENBU株式会社</a:t>
            </a:r>
          </a:p>
          <a:p>
            <a:r>
              <a:t>長期成長戦略 2026-2031</a:t>
            </a:r>
          </a:p>
          <a:p/>
          <a:p>
            <a:r>
              <a:t>DXで切り拓く不動産アフターサービスの未来</a:t>
            </a:r>
          </a:p>
          <a:p/>
          <a:p>
            <a:r>
              <a:t>2026年1月</a:t>
            </a:r>
          </a:p>
          <a:p>
            <a:r>
              <a:t>経営企画部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ビジョン</a:t>
            </a:r>
          </a:p>
          <a:p>
            <a:pPr>
              <a:defRPr sz="1800"/>
            </a:pPr>
            <a:r>
              <a:t>テクノロジーと人の力で、不動産の「困った」をゼロにする。</a:t>
            </a:r>
          </a:p>
          <a:p>
            <a:pPr>
              <a:defRPr sz="1800"/>
            </a:pPr>
            <a:r>
              <a:t>日本一信頼される不動産アフターサービス・プラットフォーム企業へ。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5年後の定量目標</a:t>
            </a:r>
          </a:p>
          <a:p>
            <a:pPr lvl="1">
              <a:defRPr sz="1800"/>
            </a:pPr>
            <a:r>
              <a:t>売上高: 5倍</a:t>
            </a:r>
          </a:p>
          <a:p>
            <a:pPr lvl="1">
              <a:defRPr sz="1800"/>
            </a:pPr>
            <a:r>
              <a:t>管理戸数: 2万戸 → 10万戸</a:t>
            </a:r>
          </a:p>
          <a:p>
            <a:pPr lvl="1">
              <a:defRPr sz="1800"/>
            </a:pPr>
            <a:r>
              <a:t>拠点: 1 → 10</a:t>
            </a:r>
          </a:p>
          <a:p>
            <a:pPr lvl="1">
              <a:defRPr sz="1800"/>
            </a:pPr>
            <a:r>
              <a:t>DXによる生産性200%向上を達成する。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重点戦略</a:t>
            </a:r>
          </a:p>
          <a:p>
            <a:pPr lvl="1">
              <a:defRPr sz="1800"/>
            </a:pPr>
            <a:r>
              <a:t>1. DX基盤の構築：全事業プロセスのデジタル化と抜本的な業務改革</a:t>
            </a:r>
          </a:p>
          <a:p>
            <a:pPr lvl="1">
              <a:defRPr sz="1800"/>
            </a:pPr>
            <a:r>
              <a:t>2. プラットフォーム化：顧客・協力会社・ZENBUを繋ぐエコシステム構築</a:t>
            </a:r>
          </a:p>
          <a:p>
            <a:pPr lvl="1">
              <a:defRPr sz="1800"/>
            </a:pPr>
            <a:r>
              <a:t>3. データドリブン経営：AI/IoTを活用した予測型メンテナンスと高付加価値サービスの創出</a:t>
            </a:r>
          </a:p>
          <a:p>
            <a:pPr lvl="1">
              <a:defRPr sz="1800"/>
            </a:pPr>
            <a:r>
              <a:t>4. エリア拡大：東海エリアの成功モデルを全国の主要都市へ水平展開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会社概要・事業紹介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会社概要</a:t>
            </a:r>
          </a:p>
          <a:p>
            <a:pPr>
              <a:defRPr sz="1800"/>
            </a:pPr>
            <a:r>
              <a:t>不動産・建築業界に特化したアフターサービス支援企業。</a:t>
            </a:r>
          </a:p>
          <a:p>
            <a:pPr>
              <a:defRPr sz="1800"/>
            </a:pPr>
            <a:r>
              <a:t>愛知県名古屋市（中区正木3-13-8）を拠点に、業界の人手不足や業務非効率といった課題を解決。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ミッション</a:t>
            </a:r>
          </a:p>
          <a:p>
            <a:pPr>
              <a:defRPr sz="1800"/>
            </a:pPr>
            <a:r>
              <a:t>「求めている人が1人でもいるならば、その人を全力で助ける。全部拾い上げる。」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独自の『ZENBUエコシステム』</a:t>
            </a:r>
          </a:p>
          <a:p>
            <a:pPr lvl="1">
              <a:defRPr sz="1800"/>
            </a:pPr>
            <a:r>
              <a:t>ソリューション事業: 緊急対応・24時間メンテナンス等のオンデマンド支援</a:t>
            </a:r>
          </a:p>
          <a:p>
            <a:pPr lvl="1">
              <a:defRPr sz="1800"/>
            </a:pPr>
            <a:r>
              <a:t>コンサルティング事業: 管理会社の収益最大化を支援するノウハウ提供</a:t>
            </a:r>
          </a:p>
          <a:p>
            <a:pPr lvl="1">
              <a:defRPr sz="1800"/>
            </a:pPr>
            <a:r>
              <a:t>フィールド駆けつけサービス事業: 安定収益モデルであるサブスク型修繕サービス</a:t>
            </a:r>
          </a:p>
          <a:p>
            <a:pPr lvl="1">
              <a:defRPr sz="1800"/>
            </a:pPr>
            <a:r>
              <a:t>カスタマーサクセス事業: 管理業務のアウトソーシング（BPO）パートナー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市場環境分析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市場規模と成長性</a:t>
            </a:r>
          </a:p>
          <a:p>
            <a:pPr lvl="1">
              <a:defRPr sz="1800"/>
            </a:pPr>
            <a:r>
              <a:t>不動産管理市場: 約3.5兆円</a:t>
            </a:r>
          </a:p>
          <a:p>
            <a:pPr lvl="1">
              <a:defRPr sz="1800"/>
            </a:pPr>
            <a:r>
              <a:t>安定成長（年率3-5%）</a:t>
            </a:r>
          </a:p>
          <a:p>
            <a:pPr lvl="1">
              <a:defRPr sz="1800"/>
            </a:pPr>
            <a:r>
              <a:t>ストック型ビジネスとして安定成長が見込まれる巨大市場。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業界課題（事業機会）</a:t>
            </a:r>
          </a:p>
          <a:p>
            <a:pPr lvl="1">
              <a:defRPr sz="1800"/>
            </a:pPr>
            <a:r>
              <a:t>人手不足の深刻化: 現場の担い手不足により、アウトソーシング需要が急増。</a:t>
            </a:r>
          </a:p>
          <a:p>
            <a:pPr lvl="1">
              <a:defRPr sz="1800"/>
            </a:pPr>
            <a:r>
              <a:t>顧客ニーズの多様化: 24時間365日対応、迅速なトラブル解決への要求水準が向上。</a:t>
            </a:r>
          </a:p>
          <a:p>
            <a:pPr lvl="1">
              <a:defRPr sz="1800"/>
            </a:pPr>
            <a:r>
              <a:t>DXの遅れ: 電話・FAX等のアナログ業務が依然として多く、生産性向上の余地が大きい。</a:t>
            </a:r>
          </a:p>
          <a:p>
            <a:pPr lvl="1">
              <a:defRPr sz="1800"/>
            </a:pPr>
            <a:r>
              <a:t>収益性の低下: コスト削減圧力が続まり、管理会社は業務効率化を迫られている。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ZENBUのポジショニング</a:t>
            </a:r>
          </a:p>
          <a:p>
            <a:pPr>
              <a:defRPr sz="1800"/>
            </a:pPr>
            <a:r>
              <a:t>地域密着の柔軟性とDXによる拡張性を両立し、独自の地位を確立。</a:t>
            </a:r>
          </a:p>
          <a:p>
            <a:pPr>
              <a:defRPr sz="1800"/>
            </a:pPr>
            <a:r>
              <a:t>ZENBU = DX特化型アフターサービスプロバイダー（大手と中小の間のポジション）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SWOT分析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強み（Strengths）</a:t>
            </a:r>
          </a:p>
          <a:p>
            <a:pPr lvl="1">
              <a:defRPr sz="1800"/>
            </a:pPr>
            <a:r>
              <a:t>• 4事業のシナジー</a:t>
            </a:r>
          </a:p>
          <a:p>
            <a:pPr lvl="1">
              <a:defRPr sz="1800"/>
            </a:pPr>
            <a:r>
              <a:t>• 24時間対応体制</a:t>
            </a:r>
          </a:p>
          <a:p>
            <a:pPr lvl="1">
              <a:defRPr sz="1800"/>
            </a:pPr>
            <a:r>
              <a:t>• 現場ノウハウと職人ネットワーク</a:t>
            </a:r>
          </a:p>
          <a:p>
            <a:pPr lvl="1">
              <a:defRPr sz="1800"/>
            </a:pPr>
            <a:r>
              <a:t>• kintone等で実証済みのDX推進力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弱み（Weaknesses）</a:t>
            </a:r>
          </a:p>
          <a:p>
            <a:pPr lvl="1">
              <a:defRPr sz="1800"/>
            </a:pPr>
            <a:r>
              <a:t>• 事業エリアが東海圏に限定</a:t>
            </a:r>
          </a:p>
          <a:p>
            <a:pPr lvl="1">
              <a:defRPr sz="1800"/>
            </a:pPr>
            <a:r>
              <a:t>• ブランド認知度の低さ</a:t>
            </a:r>
          </a:p>
          <a:p>
            <a:pPr lvl="1">
              <a:defRPr sz="1800"/>
            </a:pPr>
            <a:r>
              <a:t>• 業務プロセスの属人化</a:t>
            </a:r>
          </a:p>
          <a:p>
            <a:pPr lvl="1">
              <a:defRPr sz="1800"/>
            </a:pPr>
            <a:r>
              <a:t>• データ活用基盤の未整備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機会（Opportunities）</a:t>
            </a:r>
          </a:p>
          <a:p>
            <a:pPr lvl="1">
              <a:defRPr sz="1800"/>
            </a:pPr>
            <a:r>
              <a:t>• 管理会社のアウトソーシング需要拡大</a:t>
            </a:r>
          </a:p>
          <a:p>
            <a:pPr lvl="1">
              <a:defRPr sz="1800"/>
            </a:pPr>
            <a:r>
              <a:t>• DX/AI/IoT技術の進化と低コスト化</a:t>
            </a:r>
          </a:p>
          <a:p>
            <a:pPr lvl="1">
              <a:defRPr sz="1800"/>
            </a:pPr>
            <a:r>
              <a:t>• サブスクリプションモデルの普及</a:t>
            </a:r>
          </a:p>
          <a:p>
            <a:pPr lvl="1">
              <a:defRPr sz="1800"/>
            </a:pPr>
            <a:r>
              <a:t>• 同業他社とのアライアンス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脅威（Threats）</a:t>
            </a:r>
          </a:p>
          <a:p>
            <a:pPr lvl="1">
              <a:defRPr sz="1800"/>
            </a:pPr>
            <a:r>
              <a:t>• 大手資本による業界再編</a:t>
            </a:r>
          </a:p>
          <a:p>
            <a:pPr lvl="1">
              <a:defRPr sz="1800"/>
            </a:pPr>
            <a:r>
              <a:t>• 異業種からの新規参入</a:t>
            </a:r>
          </a:p>
          <a:p>
            <a:pPr lvl="1">
              <a:defRPr sz="1800"/>
            </a:pPr>
            <a:r>
              <a:t>• 価格競争の激化</a:t>
            </a:r>
          </a:p>
          <a:p>
            <a:pPr lvl="1">
              <a:defRPr sz="1800"/>
            </a:pPr>
            <a:r>
              <a:t>• 専門人材（特にDX人材）の獲得競争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積極戦略</a:t>
            </a:r>
          </a:p>
          <a:p>
            <a:pPr>
              <a:defRPr sz="1800"/>
            </a:pPr>
            <a:r>
              <a:t>DX推進力 × アウトソーシング需要</a:t>
            </a:r>
          </a:p>
          <a:p>
            <a:pPr>
              <a:defRPr sz="1800"/>
            </a:pPr>
            <a:r>
              <a:t>改善戦略</a:t>
            </a:r>
          </a:p>
          <a:p>
            <a:pPr>
              <a:defRPr sz="1800"/>
            </a:pPr>
            <a:r>
              <a:t>DX投資による属人化解消とエリア拡大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各事業の現状と課題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ソリューション事業</a:t>
            </a:r>
          </a:p>
          <a:p>
            <a:pPr lvl="1">
              <a:defRPr sz="1800"/>
            </a:pPr>
            <a:r>
              <a:t>現状: 緊急対応が中心。</a:t>
            </a:r>
          </a:p>
          <a:p>
            <a:pPr lvl="1">
              <a:defRPr sz="1800"/>
            </a:pPr>
            <a:r>
              <a:t>課題: 電話対応の属人化、対応履歴の管理煩雑化、職人手配の非効率。</a:t>
            </a:r>
          </a:p>
          <a:p>
            <a:pPr lvl="1">
              <a:defRPr sz="1800"/>
            </a:pPr>
            <a:r>
              <a:t>→ 自動化、データ化、最適化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コンサルティング事業</a:t>
            </a:r>
          </a:p>
          <a:p>
            <a:pPr lvl="1">
              <a:defRPr sz="1800"/>
            </a:pPr>
            <a:r>
              <a:t>現状: 個別提案が中心。</a:t>
            </a:r>
          </a:p>
          <a:p>
            <a:pPr lvl="1">
              <a:defRPr sz="1800"/>
            </a:pPr>
            <a:r>
              <a:t>課題: ノウハウが個人の経験に依存、成果の可視化が困難、事業拡大に限界。</a:t>
            </a:r>
          </a:p>
          <a:p>
            <a:pPr lvl="1">
              <a:defRPr sz="1800"/>
            </a:pPr>
            <a:r>
              <a:t>→ デジタル化、可視化、スケール化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カスタマーサクセス事業</a:t>
            </a:r>
          </a:p>
          <a:p>
            <a:pPr lvl="1">
              <a:defRPr sz="1800"/>
            </a:pPr>
            <a:r>
              <a:t>現状: 管理業務を代行。</a:t>
            </a:r>
          </a:p>
          <a:p>
            <a:pPr lvl="1">
              <a:defRPr sz="1800"/>
            </a:pPr>
            <a:r>
              <a:t>課題: オペレーター毎の品質のバラつき、情報共有の遅延、トラブル発生後の事後対応が中心。</a:t>
            </a:r>
          </a:p>
          <a:p>
            <a:pPr lvl="1">
              <a:defRPr sz="1800"/>
            </a:pPr>
            <a:r>
              <a:t>→ 標準化、情報共有、プロアクティブ化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フィールド駆けつけサービス事業</a:t>
            </a:r>
          </a:p>
          <a:p>
            <a:pPr lvl="1">
              <a:defRPr sz="1800"/>
            </a:pPr>
            <a:r>
              <a:t>現状: サブスクによる安定収益。</a:t>
            </a:r>
          </a:p>
          <a:p>
            <a:pPr lvl="1">
              <a:defRPr sz="1800"/>
            </a:pPr>
            <a:r>
              <a:t>課題: サービス提供エリアが限定的、顧客獲得コストが高い、オペレーションの標準化。</a:t>
            </a:r>
          </a:p>
          <a:p>
            <a:pPr lvl="1">
              <a:defRPr sz="1800"/>
            </a:pPr>
            <a:r>
              <a:t>→ エリア拡大、効率化、標準化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5年後のビジョン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2031年のZENBU像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「テクノロジーと人の力で、不動産の『困った』をゼロにする。</a:t>
            </a:r>
          </a:p>
          <a:p>
            <a:pPr>
              <a:defRPr sz="1800"/>
            </a:pPr>
            <a:r>
              <a:t>日本一信頼されるアフターサービスプラットフォーム企業へ」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実現する世界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入居者</a:t>
            </a:r>
          </a:p>
          <a:p>
            <a:pPr>
              <a:defRPr sz="1800"/>
            </a:pPr>
            <a:r>
              <a:t>「アプリ一つで24時間、ストレスなくトラブルを即時解決。」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管理会社/オーナー</a:t>
            </a:r>
          </a:p>
          <a:p>
            <a:pPr>
              <a:defRPr sz="1800"/>
            </a:pPr>
            <a:r>
              <a:t>「業務負担を50%削減し、コア業務に集中。データに基づき資産価値を最大化。」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協力会社/職人</a:t>
            </a:r>
          </a:p>
          <a:p>
            <a:pPr>
              <a:defRPr sz="1800"/>
            </a:pPr>
            <a:r>
              <a:t>「安定した仕事と適正な報酬を得られるプラットフォーム。」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【Speed】最速対応  |  【Quality】高品質  |  【Trust】透明性  |  【Innovation】革新性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定量目標（売上・利益・シェア）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全社成長目標</a:t>
            </a:r>
          </a:p>
          <a:p>
            <a:pPr lvl="1">
              <a:defRPr sz="1800"/>
            </a:pPr>
            <a:r>
              <a:t>売上高: 現在 → 2031年で5倍</a:t>
            </a:r>
          </a:p>
          <a:p>
            <a:pPr lvl="1">
              <a:defRPr sz="1800"/>
            </a:pPr>
            <a:r>
              <a:t>営業利益率: +10%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主要KPI推移</a:t>
            </a:r>
          </a:p>
          <a:p>
            <a:pPr lvl="1">
              <a:defRPr sz="1800"/>
            </a:pPr>
            <a:r>
              <a:t>管理戸数: 2万戸 → 10万戸</a:t>
            </a:r>
          </a:p>
          <a:p>
            <a:pPr lvl="1">
              <a:defRPr sz="1800"/>
            </a:pPr>
            <a:r>
              <a:t>対応エリア: 1エリア（東海） → 10エリア（全国主要都市）</a:t>
            </a:r>
          </a:p>
          <a:p>
            <a:pPr lvl="1">
              <a:defRPr sz="1800"/>
            </a:pPr>
            <a:r>
              <a:t>デジタル化率: 20% → 90%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事業別売上構成（2031年目標）</a:t>
            </a:r>
          </a:p>
          <a:p>
            <a:pPr lvl="1">
              <a:defRPr sz="1800"/>
            </a:pPr>
            <a:r>
              <a:t>ソリューション事業</a:t>
            </a:r>
          </a:p>
          <a:p>
            <a:pPr lvl="1">
              <a:defRPr sz="1800"/>
            </a:pPr>
            <a:r>
              <a:t>コンサルティング事業</a:t>
            </a:r>
          </a:p>
          <a:p>
            <a:pPr lvl="1">
              <a:defRPr sz="1800"/>
            </a:pPr>
            <a:r>
              <a:t>カスタマーサクセス事業</a:t>
            </a:r>
          </a:p>
          <a:p>
            <a:pPr lvl="1">
              <a:defRPr sz="1800"/>
            </a:pPr>
            <a:r>
              <a:t>フィールド駆けつけサービス事業</a:t>
            </a:r>
          </a:p>
          <a:p>
            <a:pPr lvl="1">
              <a:defRPr sz="1800"/>
            </a:pPr>
            <a:r>
              <a:t>プラットフォーム事業（5-10%）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4事業がバランス良く成長し、安定した収益基盤を構築。</a:t>
            </a:r>
          </a:p>
          <a:p>
            <a:pPr>
              <a:defRPr sz="1800"/>
            </a:pPr>
            <a:r>
              <a:t>プラットフォーム事業を新たな収益の柱として育成。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DX戦略の全体像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DXビジョン:「Full Digital, Full Human」</a:t>
            </a:r>
          </a:p>
          <a:p>
            <a:pPr>
              <a:defRPr sz="1800"/>
            </a:pPr>
            <a:r>
              <a:t>デジタルで徹底的に効率化し、人は人にしかできない付加価値の高い業務に集中する。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フロントDX（顧客接点のデジタル化）</a:t>
            </a:r>
          </a:p>
          <a:p>
            <a:pPr lvl="1">
              <a:defRPr sz="1800"/>
            </a:pPr>
            <a:r>
              <a:t>顧客体験を革新する。</a:t>
            </a:r>
          </a:p>
          <a:p>
            <a:pPr lvl="1">
              <a:defRPr sz="1800"/>
            </a:pPr>
            <a:r>
              <a:t>• 入居者/管理会社向けポータルアプリ</a:t>
            </a:r>
          </a:p>
          <a:p>
            <a:pPr lvl="1">
              <a:defRPr sz="1800"/>
            </a:pPr>
            <a:r>
              <a:t>• チャットボット導入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バックエンドDX（業務プロセスのデジタル化）</a:t>
            </a:r>
          </a:p>
          <a:p>
            <a:pPr lvl="1">
              <a:defRPr sz="1800"/>
            </a:pPr>
            <a:r>
              <a:t>業務を一気通貫で自動化・最適化する。</a:t>
            </a:r>
          </a:p>
          <a:p>
            <a:pPr lvl="1">
              <a:defRPr sz="1800"/>
            </a:pPr>
            <a:r>
              <a:t>• 統合業務管理システム</a:t>
            </a:r>
          </a:p>
          <a:p>
            <a:pPr lvl="1">
              <a:defRPr sz="1800"/>
            </a:pPr>
            <a:r>
              <a:t>• 職人マッチング自動化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インフラDX（設備のIoT化）</a:t>
            </a:r>
          </a:p>
          <a:p>
            <a:pPr lvl="1">
              <a:defRPr sz="1800"/>
            </a:pPr>
            <a:r>
              <a:t>「予測型」サービスを実現する。</a:t>
            </a:r>
          </a:p>
          <a:p>
            <a:pPr lvl="1">
              <a:defRPr sz="1800"/>
            </a:pPr>
            <a:r>
              <a:t>• IoTセンサー導入</a:t>
            </a:r>
          </a:p>
          <a:p>
            <a:pPr lvl="1">
              <a:defRPr sz="1800"/>
            </a:pPr>
            <a:r>
              <a:t>• 予測型・予防型メンテナンス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期待効果</a:t>
            </a:r>
          </a:p>
          <a:p>
            <a:pPr lvl="1">
              <a:defRPr sz="1800"/>
            </a:pPr>
            <a:r>
              <a:t>業務効率 200%向上</a:t>
            </a:r>
          </a:p>
          <a:p>
            <a:pPr lvl="1">
              <a:defRPr sz="1800"/>
            </a:pPr>
            <a:r>
              <a:t>人件費率 20%削減</a:t>
            </a:r>
          </a:p>
          <a:p>
            <a:pPr lvl="1">
              <a:defRPr sz="1800"/>
            </a:pPr>
            <a:r>
              <a:t>対応時間 50%短縮</a:t>
            </a:r>
          </a:p>
          <a:p>
            <a:pPr lvl="1">
              <a:defRPr sz="1800"/>
            </a:pPr>
            <a:r>
              <a:t>顧客満足度 30%向上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デジタル化ロードマップ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Phase 1: 基盤構築期（2026-2027）</a:t>
            </a:r>
          </a:p>
          <a:p>
            <a:pPr lvl="1">
              <a:defRPr sz="1800"/>
            </a:pPr>
            <a:r>
              <a:t>効率化</a:t>
            </a:r>
          </a:p>
          <a:p>
            <a:pPr lvl="1">
              <a:defRPr sz="1800"/>
            </a:pPr>
            <a:r>
              <a:t>目標: 業務プロセスの徹底的なデジタル化とデータ統合。</a:t>
            </a:r>
          </a:p>
          <a:p>
            <a:pPr lvl="1">
              <a:defRPr sz="1800"/>
            </a:pPr>
            <a:r>
              <a:t>• DX推進チーム発足</a:t>
            </a:r>
          </a:p>
          <a:p>
            <a:pPr lvl="1">
              <a:defRPr sz="1800"/>
            </a:pPr>
            <a:r>
              <a:t>• クラウド型統合業務管理システム導入</a:t>
            </a:r>
          </a:p>
          <a:p>
            <a:pPr lvl="1">
              <a:defRPr sz="1800"/>
            </a:pPr>
            <a:r>
              <a:t>• カスタマーポータルβ版リリース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2: 展開期（2828-2029）</a:t>
            </a:r>
          </a:p>
          <a:p>
            <a:pPr lvl="1">
              <a:defRPr sz="1800"/>
            </a:pPr>
            <a:r>
              <a:t>高付加価値化</a:t>
            </a:r>
          </a:p>
          <a:p>
            <a:pPr lvl="1">
              <a:defRPr sz="1800"/>
            </a:pPr>
            <a:r>
              <a:t>目標: デジタルサービスの全社展開とデータ活用の高度化。</a:t>
            </a:r>
          </a:p>
          <a:p>
            <a:pPr lvl="1">
              <a:defRPr sz="1800"/>
            </a:pPr>
            <a:r>
              <a:t>• カスタマーポータル正式版</a:t>
            </a:r>
          </a:p>
          <a:p>
            <a:pPr lvl="1">
              <a:defRPr sz="1800"/>
            </a:pPr>
            <a:r>
              <a:t>• AIによる職人マッチング最適化</a:t>
            </a:r>
          </a:p>
          <a:p>
            <a:pPr lvl="1">
              <a:defRPr sz="1800"/>
            </a:pPr>
            <a:r>
              <a:t>• 管理会社向けKPIダッシュボード提供</a:t>
            </a:r>
          </a:p>
          <a:p>
            <a:pPr lvl="1">
              <a:defRPr sz="1800"/>
            </a:pPr>
            <a:r>
              <a:t>• IoTセンサーのパイロット導入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3: 進化期（2030-2031）</a:t>
            </a:r>
          </a:p>
          <a:p>
            <a:pPr lvl="1">
              <a:defRPr sz="1800"/>
            </a:pPr>
            <a:r>
              <a:t>プラットフォーム化</a:t>
            </a:r>
          </a:p>
          <a:p>
            <a:pPr lvl="1">
              <a:defRPr sz="1800"/>
            </a:pPr>
            <a:r>
              <a:t>目標: プラットフォーム化と業界標準の確立。</a:t>
            </a:r>
          </a:p>
          <a:p>
            <a:pPr lvl="1">
              <a:defRPr sz="1800"/>
            </a:pPr>
            <a:r>
              <a:t>• AIによる問い合わせの完全自動応答</a:t>
            </a:r>
          </a:p>
          <a:p>
            <a:pPr lvl="1">
              <a:defRPr sz="1800"/>
            </a:pPr>
            <a:r>
              <a:t>• 外部システムとのAPI連携</a:t>
            </a:r>
          </a:p>
          <a:p>
            <a:pPr lvl="1">
              <a:defRPr sz="1800"/>
            </a:pPr>
            <a:r>
              <a:t>• プラットフォーム事業の本格始動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ソリューション事業 × 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現状課題</a:t>
            </a:r>
          </a:p>
          <a:p>
            <a:pPr lvl="1">
              <a:defRPr sz="1800"/>
            </a:pPr>
            <a:r>
              <a:t>電話対応の負荷、対応履歴の属人化、職人手配の遅延。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DXによる変革</a:t>
            </a:r>
          </a:p>
          <a:p>
            <a:pPr lvl="1">
              <a:defRPr sz="1800"/>
            </a:pPr>
            <a:r>
              <a:t>• AI IVR（音声自動応答）: 一次受付を自動化し、緊急度をAIが判定。</a:t>
            </a:r>
          </a:p>
          <a:p>
            <a:pPr lvl="1">
              <a:defRPr sz="1800"/>
            </a:pPr>
            <a:r>
              <a:t>• スマートディスパッチ: GPS情報に基づき、最適エリアの職人をシステムが自動でアサイン。</a:t>
            </a:r>
          </a:p>
          <a:p>
            <a:pPr lvl="1">
              <a:defRPr sz="1800"/>
            </a:pPr>
            <a:r>
              <a:t>• スマートロック連携: 遠隔での鍵の開閉と入退室履歴を自動記録。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5年後の姿</a:t>
            </a:r>
          </a:p>
          <a:p>
            <a:pPr lvl="1">
              <a:defRPr sz="1800"/>
            </a:pPr>
            <a:r>
              <a:t>電話対応工数 70%削減</a:t>
            </a:r>
          </a:p>
          <a:p>
            <a:pPr lvl="1">
              <a:defRPr sz="1800"/>
            </a:pPr>
            <a:r>
              <a:t>平均現場到着時間 60分 → 20分</a:t>
            </a:r>
          </a:p>
          <a:p>
            <a:pPr lvl="1">
              <a:defRPr sz="1800"/>
            </a:pPr>
            <a:r>
              <a:t>圧倒的なスピードと信頼性で収益3倍を目指す。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コンサルティング事業 × 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現状課題</a:t>
            </a:r>
          </a:p>
          <a:p>
            <a:pPr lvl="1">
              <a:defRPr sz="1800"/>
            </a:pPr>
            <a:r>
              <a:t>ノウハウの属人化、成果の不明瞭さ、スケールしないビジネスモデル。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DXによる変革</a:t>
            </a:r>
          </a:p>
          <a:p>
            <a:pPr lvl="1">
              <a:defRPr sz="1800"/>
            </a:pPr>
            <a:r>
              <a:t>1. データドリブン・コンサル: 業界データや自社データを分析し、客観的根拠に基づく改善提案を実施。</a:t>
            </a:r>
          </a:p>
          <a:p>
            <a:pPr lvl="1">
              <a:defRPr sz="1800"/>
            </a:pPr>
            <a:r>
              <a:t>2. オンラインナレッジPF: 成功事例やノウハウをコンテンツ化し、顧客がいつでも学べるプラットフォームを提供。</a:t>
            </a:r>
          </a:p>
          <a:p>
            <a:pPr lvl="1">
              <a:defRPr sz="1800"/>
            </a:pPr>
            <a:r>
              <a:t>3. 成果可視化ダッシュボード: 施策の効果（入居率等）をリアルタイムで可視化。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5年後の姿</a:t>
            </a:r>
          </a:p>
          <a:p>
            <a:pPr lvl="1">
              <a:defRPr sz="1800"/>
            </a:pPr>
            <a:r>
              <a:t>コンサルタント個人の能力に依存しない、スケーラブルな事業へ進化。</a:t>
            </a:r>
          </a:p>
          <a:p>
            <a:pPr lvl="1">
              <a:defRPr sz="1800"/>
            </a:pPr>
            <a:r>
              <a:t>顧客数 5倍</a:t>
            </a:r>
          </a:p>
          <a:p>
            <a:pPr lvl="1">
              <a:defRPr sz="1800"/>
            </a:pPr>
            <a:r>
              <a:t>売上 4倍を目指す。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カスタマーサクセス事業 × 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過去: リアクティブ型</a:t>
            </a:r>
          </a:p>
          <a:p>
            <a:pPr lvl="1">
              <a:defRPr sz="1800"/>
            </a:pPr>
            <a:r>
              <a:t>現状課題</a:t>
            </a:r>
          </a:p>
          <a:p>
            <a:pPr lvl="1">
              <a:defRPr sz="1800"/>
            </a:pPr>
            <a:r>
              <a:t>対応品質のバラつき、情報共有の非効率、事後対応中心。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未来: プロアクティブ型</a:t>
            </a:r>
          </a:p>
          <a:p>
            <a:pPr lvl="1">
              <a:defRPr sz="1800"/>
            </a:pPr>
            <a:r>
              <a:t>DXによる変革</a:t>
            </a:r>
          </a:p>
          <a:p>
            <a:pPr lvl="1">
              <a:defRPr sz="1800"/>
            </a:pPr>
            <a:r>
              <a:t>• 統合業務管理システム: 全案件の情報を一元管理し、誰が対応しても均質なサービスを提供。</a:t>
            </a:r>
          </a:p>
          <a:p>
            <a:pPr lvl="1">
              <a:defRPr sz="1800"/>
            </a:pPr>
            <a:r>
              <a:t>• AI予防保全プログラム: 過去の修繕データから設備の劣化時期をAIが予測し、「壊させない」管理へ。</a:t>
            </a:r>
          </a:p>
          <a:p>
            <a:pPr lvl="1">
              <a:defRPr sz="1800"/>
            </a:pPr>
            <a:r>
              <a:t>• 入居者アプリ: 入居者からの連絡やアンケートをアプリに集約し、満足度を向上。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5年後の姿</a:t>
            </a:r>
          </a:p>
          <a:p>
            <a:pPr lvl="1">
              <a:defRPr sz="1800"/>
            </a:pPr>
            <a:r>
              <a:t>クレーム対応型から予防保全・顧客満足度向上を主導するプロアクティブな事業へ。</a:t>
            </a:r>
          </a:p>
          <a:p>
            <a:pPr lvl="1">
              <a:defRPr sz="1800"/>
            </a:pPr>
            <a:r>
              <a:t>管理戸数 3倍</a:t>
            </a:r>
          </a:p>
          <a:p>
            <a:pPr lvl="1">
              <a:defRPr sz="1800"/>
            </a:pPr>
            <a:r>
              <a:t>クレーム率 50%削減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フィールド駆けつけサービス × 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現状課題</a:t>
            </a:r>
          </a:p>
          <a:p>
            <a:pPr lvl="1">
              <a:defRPr sz="1800"/>
            </a:pPr>
            <a:r>
              <a:t>提供エリアの限定、高い顧客獲得コスト、非効率なオペレーション。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DXによる変革</a:t>
            </a:r>
          </a:p>
          <a:p>
            <a:pPr lvl="1">
              <a:defRPr sz="1800"/>
            </a:pPr>
            <a:r>
              <a:t>• IoT連携サブスク: IoTセンサーが異常を自動検知し、サービスチームに自動で出動指示。</a:t>
            </a:r>
          </a:p>
          <a:p>
            <a:pPr lvl="1">
              <a:defRPr sz="1800"/>
            </a:pPr>
            <a:r>
              <a:t>• ダイナミック・ルーティング: 複数の訪問先をAIが分析し、移動時間を最小化する最適ルートを算出。</a:t>
            </a:r>
          </a:p>
          <a:p>
            <a:pPr lvl="1">
              <a:defRPr sz="1800"/>
            </a:pPr>
            <a:r>
              <a:t>• 解約（チャーン）予測モデル: 利用状況データを分析し、解約可能性の高い顧客を予測・フォロー。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5年後の姿</a:t>
            </a:r>
          </a:p>
          <a:p>
            <a:pPr lvl="1">
              <a:defRPr sz="1800"/>
            </a:pPr>
            <a:r>
              <a:t>データ活用による高効率オペレーションで全国展開を可能に。解約率を劇的に改善し、収益性No.1の事業へ。</a:t>
            </a:r>
          </a:p>
          <a:p>
            <a:pPr lvl="1">
              <a:defRPr sz="1800"/>
            </a:pPr>
            <a:r>
              <a:t>契約戸数 8倍</a:t>
            </a:r>
          </a:p>
          <a:p>
            <a:pPr lvl="1">
              <a:defRPr sz="1800"/>
            </a:pPr>
            <a:r>
              <a:t>売上 6倍を目指す。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5年間のロードマップ（年別）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2026【基盤構築】</a:t>
            </a:r>
          </a:p>
          <a:p>
            <a:pPr lvl="1">
              <a:defRPr sz="1800"/>
            </a:pPr>
            <a:r>
              <a:t>事業展開: 名古屋エリアのシェア拡大</a:t>
            </a:r>
          </a:p>
          <a:p>
            <a:pPr lvl="1">
              <a:defRPr sz="1800"/>
            </a:pPr>
            <a:r>
              <a:t>システム開発: 統合業務管理システム導入</a:t>
            </a:r>
          </a:p>
          <a:p>
            <a:pPr lvl="1">
              <a:defRPr sz="1800"/>
            </a:pPr>
            <a:r>
              <a:t>組織構築: DX推進チーム始動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2027【デジタル化推進】</a:t>
            </a:r>
          </a:p>
          <a:p>
            <a:pPr lvl="1">
              <a:defRPr sz="1800"/>
            </a:pPr>
            <a:r>
              <a:t>事業展開: 愛知県全域をカバー</a:t>
            </a:r>
          </a:p>
          <a:p>
            <a:pPr lvl="1">
              <a:defRPr sz="1800"/>
            </a:pPr>
            <a:r>
              <a:t>システム開発: カスタマーポータル提供開始</a:t>
            </a:r>
          </a:p>
          <a:p>
            <a:pPr lvl="1">
              <a:defRPr sz="1800"/>
            </a:pPr>
            <a:r>
              <a:t>組織構築: チーム強化・人材育成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2028【エリア拡大開始】</a:t>
            </a:r>
          </a:p>
          <a:p>
            <a:pPr lvl="1">
              <a:defRPr sz="1800"/>
            </a:pPr>
            <a:r>
              <a:t>事業展開: 東海3県（岐阜・三重）へ展開</a:t>
            </a:r>
          </a:p>
          <a:p>
            <a:pPr lvl="1">
              <a:defRPr sz="1800"/>
            </a:pPr>
            <a:r>
              <a:t>システム開発: AI予測メンテナンス導入</a:t>
            </a:r>
          </a:p>
          <a:p>
            <a:pPr lvl="1">
              <a:defRPr sz="1800"/>
            </a:pPr>
            <a:r>
              <a:t>組織構築: 専門チーム拡大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2029【全国展開準備】</a:t>
            </a:r>
          </a:p>
          <a:p>
            <a:pPr lvl="1">
              <a:defRPr sz="1800"/>
            </a:pPr>
            <a:r>
              <a:t>事業展開: 関西（大阪・京都）へ進出</a:t>
            </a:r>
          </a:p>
          <a:p>
            <a:pPr lvl="1">
              <a:defRPr sz="1800"/>
            </a:pPr>
            <a:r>
              <a:t>システム開発: IoT本格展開 / プラットフォーム準備</a:t>
            </a:r>
          </a:p>
          <a:p>
            <a:pPr lvl="1">
              <a:defRPr sz="1800"/>
            </a:pPr>
            <a:r>
              <a:t>組織構築: 全社横断的なデジタル人材配置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2030-2031【業界リーダーへ】</a:t>
            </a:r>
          </a:p>
          <a:p>
            <a:pPr lvl="1">
              <a:defRPr sz="1800"/>
            </a:pPr>
            <a:r>
              <a:t>事業展開: 全国主要都市（関東・福岡等）へ展開</a:t>
            </a:r>
          </a:p>
          <a:p>
            <a:pPr lvl="1">
              <a:defRPr sz="1800"/>
            </a:pPr>
            <a:r>
              <a:t>システム開発: プラットフォーム事業を本格始動</a:t>
            </a:r>
          </a:p>
          <a:p>
            <a:pPr lvl="1">
              <a:defRPr sz="1800"/>
            </a:pPr>
            <a:r>
              <a:t>組織構築: イノベーション組織の確立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投資計画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5年間 総投資額: XX億円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投資内訳</a:t>
            </a:r>
          </a:p>
          <a:p>
            <a:pPr lvl="1">
              <a:defRPr sz="1800"/>
            </a:pPr>
            <a:r>
              <a:t>DX・システム開発（40%）</a:t>
            </a:r>
          </a:p>
          <a:p>
            <a:pPr lvl="1">
              <a:defRPr sz="1800"/>
            </a:pPr>
            <a:r>
              <a:t>本戦略の心臓部。アプリ開発、AI・IoT技術、データ基盤構築に重点配分。</a:t>
            </a:r>
          </a:p>
          <a:p>
            <a:pPr lvl="1">
              <a:defRPr sz="1800"/>
            </a:pPr>
            <a:r>
              <a:t>エリア拡大（30%）</a:t>
            </a:r>
          </a:p>
          <a:p>
            <a:pPr lvl="1">
              <a:defRPr sz="1800"/>
            </a:pPr>
            <a:r>
              <a:t>新拠点開設、現地採用・マーケティング費用。</a:t>
            </a:r>
          </a:p>
          <a:p>
            <a:pPr lvl="1">
              <a:defRPr sz="1800"/>
            </a:pPr>
            <a:r>
              <a:t>人材投資（20%）</a:t>
            </a:r>
          </a:p>
          <a:p>
            <a:pPr lvl="1">
              <a:defRPr sz="1800"/>
            </a:pPr>
            <a:r>
              <a:t>DX人材、事業開発人材の採用と全社的な育成・研修。</a:t>
            </a:r>
          </a:p>
          <a:p>
            <a:pPr lvl="1">
              <a:defRPr sz="1800"/>
            </a:pPr>
            <a:r>
              <a:t>その他（10%）</a:t>
            </a:r>
          </a:p>
          <a:p>
            <a:pPr lvl="1">
              <a:defRPr sz="1800"/>
            </a:pPr>
            <a:r>
              <a:t>車両・機材、オフィス環境整備等。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資金調達計画</a:t>
            </a:r>
          </a:p>
          <a:p>
            <a:pPr lvl="1">
              <a:defRPr sz="1800"/>
            </a:pPr>
            <a:r>
              <a:t>自己資金</a:t>
            </a:r>
          </a:p>
          <a:p>
            <a:pPr lvl="1">
              <a:defRPr sz="1800"/>
            </a:pPr>
            <a:r>
              <a:t>金融機関からの融資</a:t>
            </a:r>
          </a:p>
          <a:p>
            <a:pPr lvl="1">
              <a:defRPr sz="1800"/>
            </a:pPr>
            <a:r>
              <a:t>VC等からの調達（検討）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自己資金、金融機関からの融資を主軸とし、事業の進捗に応じてベンチャーキャピタルからの資金調達も視野に入れる。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組織体制・人材戦略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2031年の組織図</a:t>
            </a:r>
          </a:p>
          <a:p>
            <a:pPr lvl="1">
              <a:defRPr sz="1800"/>
            </a:pPr>
            <a:r>
              <a:t>CEO / 取締役会</a:t>
            </a:r>
          </a:p>
          <a:p>
            <a:pPr lvl="1">
              <a:defRPr sz="1800"/>
            </a:pPr>
            <a:r>
              <a:t>├ 事業部制（ソリューション、コンサルティング、...）</a:t>
            </a:r>
          </a:p>
          <a:p>
            <a:pPr lvl="1">
              <a:defRPr sz="1800"/>
            </a:pPr>
            <a:r>
              <a:t>├ DX推進本部（データ統括部を含む）← 全社横断のDX・データ組織を新設</a:t>
            </a:r>
          </a:p>
          <a:p>
            <a:pPr lvl="1">
              <a:defRPr sz="1800"/>
            </a:pPr>
            <a:r>
              <a:t>├ エリア統括本部 ← エリア統括本部を設置し、権限委譲を進める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人材戦略</a:t>
            </a:r>
          </a:p>
          <a:p>
            <a:pPr lvl="1">
              <a:defRPr sz="1800"/>
            </a:pPr>
            <a:r>
              <a:t>採用</a:t>
            </a:r>
          </a:p>
          <a:p>
            <a:pPr lvl="1">
              <a:defRPr sz="1800"/>
            </a:pPr>
            <a:r>
              <a:t>• DX人材（エンジニア、UI/UXデザイナー、データサイエンティスト）の積極採用。</a:t>
            </a:r>
          </a:p>
          <a:p>
            <a:pPr lvl="1">
              <a:defRPr sz="1800"/>
            </a:pPr>
            <a:r>
              <a:t>• 事業を牽引するビジネス開発人材、エリアマネージャーの獲得。</a:t>
            </a:r>
          </a:p>
          <a:p>
            <a:pPr>
              <a:defRPr sz="1800"/>
            </a:pPr>
          </a:p>
          <a:p>
            <a:pPr lvl="1">
              <a:defRPr sz="1800"/>
            </a:pPr>
            <a:r>
              <a:t>育成</a:t>
            </a:r>
          </a:p>
          <a:p>
            <a:pPr lvl="1">
              <a:defRPr sz="1800"/>
            </a:pPr>
            <a:r>
              <a:t>• 全社員対象のDXリテラシー研修を実施し、デジタルを使いこなす組織文化を醸成。</a:t>
            </a:r>
          </a:p>
          <a:p>
            <a:pPr lvl="1">
              <a:defRPr sz="1800"/>
            </a:pPr>
            <a:r>
              <a:t>• 次世代リーダー育成プログラム、資格取得支援制度の拡充。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KPI・評価指標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全社KPI</a:t>
            </a:r>
          </a:p>
          <a:p>
            <a:pPr lvl="1">
              <a:defRPr sz="1800"/>
            </a:pPr>
            <a:r>
              <a:t>• 売上高成長率: 年平均 +40%</a:t>
            </a:r>
          </a:p>
          <a:p>
            <a:pPr lvl="1">
              <a:defRPr sz="1800"/>
            </a:pPr>
            <a:r>
              <a:t>• 管理戸数: 10万戸</a:t>
            </a:r>
          </a:p>
          <a:p>
            <a:pPr lvl="1">
              <a:defRPr sz="1800"/>
            </a:pPr>
            <a:r>
              <a:t>• 顧客継続率: 95%以上</a:t>
            </a:r>
          </a:p>
          <a:p>
            <a:pPr lvl="1">
              <a:defRPr sz="1800"/>
            </a:pPr>
            <a:r>
              <a:t>• NPS（顧客推奨度）: （目標値なし）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DX関連KPI</a:t>
            </a:r>
          </a:p>
          <a:p>
            <a:pPr lvl="1">
              <a:defRPr sz="1800"/>
            </a:pPr>
            <a:r>
              <a:t>• デジタル化率: 90%</a:t>
            </a:r>
          </a:p>
          <a:p>
            <a:pPr lvl="1">
              <a:defRPr sz="1800"/>
            </a:pPr>
            <a:r>
              <a:t>• 定型業務の自動化率: 70%</a:t>
            </a:r>
          </a:p>
          <a:p>
            <a:pPr lvl="1">
              <a:defRPr sz="1800"/>
            </a:pPr>
            <a:r>
              <a:t>• システム稼働率: 99.9%</a:t>
            </a:r>
          </a:p>
          <a:p>
            <a:pPr lvl="1">
              <a:defRPr sz="1800"/>
            </a:pPr>
            <a:r>
              <a:t>• 顧客アプリ利用率: 80%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事業別KPI</a:t>
            </a:r>
          </a:p>
          <a:p>
            <a:pPr lvl="1">
              <a:defRPr sz="1800"/>
            </a:pPr>
            <a:r>
              <a:t>ソリューション</a:t>
            </a:r>
          </a:p>
          <a:p>
            <a:pPr lvl="1">
              <a:defRPr sz="1800"/>
            </a:pPr>
            <a:r>
              <a:t>• 平均対応時間（20分以内）</a:t>
            </a:r>
          </a:p>
          <a:p>
            <a:pPr lvl="1">
              <a:defRPr sz="1800"/>
            </a:pPr>
            <a:r>
              <a:t>• 顧客満足度</a:t>
            </a:r>
          </a:p>
          <a:p>
            <a:pPr lvl="1">
              <a:defRPr sz="1800"/>
            </a:pPr>
            <a:r>
              <a:t>コンサルティング</a:t>
            </a:r>
          </a:p>
          <a:p>
            <a:pPr lvl="1">
              <a:defRPr sz="1800"/>
            </a:pPr>
            <a:r>
              <a:t>• 顧客の入居率改善</a:t>
            </a:r>
          </a:p>
          <a:p>
            <a:pPr lvl="1">
              <a:defRPr sz="1800"/>
            </a:pPr>
            <a:r>
              <a:t>• リピート率</a:t>
            </a:r>
          </a:p>
          <a:p>
            <a:pPr lvl="1">
              <a:defRPr sz="1800"/>
            </a:pPr>
            <a:r>
              <a:t>カスタマーサクセス</a:t>
            </a:r>
          </a:p>
          <a:p>
            <a:pPr lvl="1">
              <a:defRPr sz="1800"/>
            </a:pPr>
            <a:r>
              <a:t>• クレーム率（50%削減）</a:t>
            </a:r>
          </a:p>
          <a:p>
            <a:pPr lvl="1">
              <a:defRPr sz="1800"/>
            </a:pPr>
            <a:r>
              <a:t>• 予防保全実施率</a:t>
            </a:r>
          </a:p>
          <a:p>
            <a:pPr lvl="1">
              <a:defRPr sz="1800"/>
            </a:pPr>
            <a:r>
              <a:t>フィールドサービス</a:t>
            </a:r>
          </a:p>
          <a:p>
            <a:pPr lvl="1">
              <a:defRPr sz="1800"/>
            </a:pPr>
            <a:r>
              <a:t>• 契約継続率</a:t>
            </a:r>
          </a:p>
          <a:p>
            <a:pPr lvl="1">
              <a:defRPr sz="1800"/>
            </a:pPr>
            <a:r>
              <a:t>• 平均到着時間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リスクと対策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リスク分類 | 主なリスク | 対策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技術リスク</a:t>
            </a:r>
          </a:p>
          <a:p>
            <a:pPr lvl="1">
              <a:defRPr sz="1800"/>
            </a:pPr>
            <a:r>
              <a:t>主なリスク: システム開発の遅延や失敗</a:t>
            </a:r>
          </a:p>
          <a:p>
            <a:pPr lvl="1">
              <a:defRPr sz="1800"/>
            </a:pPr>
            <a:r>
              <a:t>対策: アジャイル開発手法の導入、信頼できる外部パートナーとの連携、段階的リリース。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人材リスク</a:t>
            </a:r>
          </a:p>
          <a:p>
            <a:pPr lvl="1">
              <a:defRPr sz="1800"/>
            </a:pPr>
            <a:r>
              <a:t>主なリスク: DX人材の獲得競争激化</a:t>
            </a:r>
          </a:p>
          <a:p>
            <a:pPr lvl="1">
              <a:defRPr sz="1800"/>
            </a:pPr>
            <a:r>
              <a:t>対策: 魅力的な開発環境と報酬制度、リファラル採用強化、リモートワークによる全国採用。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市場リスク</a:t>
            </a:r>
          </a:p>
          <a:p>
            <a:pPr lvl="1">
              <a:defRPr sz="1800"/>
            </a:pPr>
            <a:r>
              <a:t>主なリスク: 競合の参入と価格競争</a:t>
            </a:r>
          </a:p>
          <a:p>
            <a:pPr lvl="1">
              <a:defRPr sz="1800"/>
            </a:pPr>
            <a:r>
              <a:t>対策: 独自技術による差別化、高品質サービスによる顧客ロックイン、ブランド価値向上。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実行リスク</a:t>
            </a:r>
          </a:p>
          <a:p>
            <a:pPr lvl="1">
              <a:defRPr sz="1800"/>
            </a:pPr>
            <a:r>
              <a:t>主なリスク: エリア拡大時の品質低下</a:t>
            </a:r>
          </a:p>
          <a:p>
            <a:pPr lvl="1">
              <a:defRPr sz="1800"/>
            </a:pPr>
            <a:r>
              <a:t>対策: オペレーションの徹底的な標準化、デジタルツールによる遠隔での品質管理、現地リーダーの育成。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総括・アクションプラン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成功への3つの鍵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DXへの徹底投資：業務効率と顧客体験を革新し、圧倒的な競争優位性を確立する。</a:t>
            </a:r>
          </a:p>
          <a:p>
            <a:pPr lvl="1">
              <a:defRPr sz="1800"/>
            </a:pPr>
            <a:r>
              <a:t>業務効率と顧客体験を革新し、業務効率と顧客体験を革新し、圧倒的な競争優位性により、業務量の膨大な事業拡大に耐えられる、調査優位性を確立する。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段階的なエリア拡大：東海エリアで確立した成功モデルを、着実に全国へ展開する。</a:t>
            </a:r>
          </a:p>
          <a:p>
            <a:pPr lvl="1">
              <a:defRPr sz="1800"/>
            </a:pPr>
            <a:r>
              <a:t>東海エリアで確立し、東海なエリアで確立した成功モデルを、展開する。全国へ展開化していいて、東海的エリアで拡大する場合、顧客的な事業へと医師する。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未来を創る人材への投資：DX人材と現場のプロフェッショナルが両輪となり成長を加速させる。</a:t>
            </a:r>
          </a:p>
          <a:p>
            <a:pPr lvl="1">
              <a:defRPr sz="1800"/>
            </a:pPr>
            <a:r>
              <a:t>未来を創るへの投資： DX人材と現場のプロフェッショナルが、両輪となり成長を加速させる。未来を創るへの投資、顧客者を材料に使った投資として加速する。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最初の6ヶ月の行動計画</a:t>
            </a:r>
          </a:p>
          <a:p>
            <a:pPr lvl="1">
              <a:defRPr sz="1800"/>
            </a:pPr>
            <a:r>
              <a:t>1-3月</a:t>
            </a:r>
          </a:p>
          <a:p>
            <a:pPr lvl="1">
              <a:defRPr sz="1800"/>
            </a:pPr>
            <a:r>
              <a:t>DX推進チーム正式発足、統合業務管理システムのベンダー選定・契約。</a:t>
            </a:r>
          </a:p>
          <a:p>
            <a:pPr lvl="1">
              <a:defRPr sz="1800"/>
            </a:pPr>
            <a:r>
              <a:t>4-6月</a:t>
            </a:r>
          </a:p>
          <a:p>
            <a:pPr lvl="1">
              <a:defRPr sz="1800"/>
            </a:pPr>
            <a:r>
              <a:t>システム導入プロジェクト開始、顧客向けアプリの要件定義、DX人材の採用活動本格化。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全社員へのメッセージ</a:t>
            </a:r>
          </a:p>
          <a:p>
            <a:pPr>
              <a:defRPr sz="1800"/>
            </a:pPr>
            <a:r>
              <a:t>「変化を恐れず、挑戦を楽しもう。一人ひとりの挑戦が、</a:t>
            </a:r>
          </a:p>
          <a:p>
            <a:pPr>
              <a:defRPr sz="1800"/>
            </a:pPr>
            <a:r>
              <a:t>ZENBUの未来、そして業界の未来を創る。さあ、始めよう。」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